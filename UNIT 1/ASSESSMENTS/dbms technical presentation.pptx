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68" r:id="rId15"/>
    <p:sldId id="269" r:id="rId16"/>
    <p:sldId id="274" r:id="rId17"/>
    <p:sldId id="270" r:id="rId18"/>
    <p:sldId id="271" r:id="rId19"/>
    <p:sldId id="272" r:id="rId20"/>
    <p:sldId id="275" r:id="rId21"/>
  </p:sldIdLst>
  <p:sldSz cx="18288000" cy="10287000"/>
  <p:notesSz cx="6858000" cy="9144000"/>
  <p:embeddedFontLst>
    <p:embeddedFont>
      <p:font typeface="Canva Sans" panose="020B0604020202020204" charset="0"/>
      <p:regular r:id="rId22"/>
    </p:embeddedFont>
    <p:embeddedFont>
      <p:font typeface="Canva Sans Bold" panose="020B0604020202020204" charset="0"/>
      <p:regular r:id="rId23"/>
    </p:embeddedFont>
    <p:embeddedFont>
      <p:font typeface="Clear Sans" panose="020B0604020202020204" charset="0"/>
      <p:regular r:id="rId24"/>
    </p:embeddedFont>
    <p:embeddedFont>
      <p:font typeface="Clear Sans Bold" panose="020B0604020202020204" charset="0"/>
      <p:regular r:id="rId25"/>
    </p:embeddedFont>
    <p:embeddedFont>
      <p:font typeface="Times New Roman MT Condensed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1531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32509" y="7625593"/>
            <a:ext cx="5898624" cy="3855248"/>
            <a:chOff x="0" y="0"/>
            <a:chExt cx="2036073" cy="1330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3030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2949312" y="4883948"/>
            <a:ext cx="5898624" cy="3855248"/>
            <a:chOff x="0" y="0"/>
            <a:chExt cx="2036073" cy="13307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018087" y="-1756669"/>
            <a:ext cx="5898624" cy="3855248"/>
            <a:chOff x="0" y="0"/>
            <a:chExt cx="2036073" cy="13307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303030"/>
            </a:solidFill>
          </p:spPr>
        </p:sp>
      </p:grpSp>
      <p:grpSp>
        <p:nvGrpSpPr>
          <p:cNvPr id="8" name="Group 8"/>
          <p:cNvGrpSpPr/>
          <p:nvPr/>
        </p:nvGrpSpPr>
        <p:grpSpPr>
          <a:xfrm rot="-10800000">
            <a:off x="15473748" y="1028700"/>
            <a:ext cx="5898624" cy="3855248"/>
            <a:chOff x="0" y="0"/>
            <a:chExt cx="2036073" cy="13307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3159651" y="8511776"/>
            <a:ext cx="5898624" cy="3855248"/>
            <a:chOff x="0" y="0"/>
            <a:chExt cx="2036073" cy="13307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15473748" y="6811573"/>
            <a:ext cx="5898624" cy="3855248"/>
            <a:chOff x="0" y="0"/>
            <a:chExt cx="2036073" cy="13307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id="14" name="Group 14"/>
          <p:cNvGrpSpPr/>
          <p:nvPr/>
        </p:nvGrpSpPr>
        <p:grpSpPr>
          <a:xfrm rot="5400000">
            <a:off x="-3184753" y="-577410"/>
            <a:ext cx="5898624" cy="3855248"/>
            <a:chOff x="0" y="0"/>
            <a:chExt cx="2036073" cy="13307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746146" y="3616334"/>
            <a:ext cx="16795709" cy="335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76"/>
              </a:lnSpc>
            </a:pPr>
            <a:r>
              <a:rPr lang="en-US" sz="9615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CASE-BASED SCENARIOS BY IDENTIFYING ENTITIES AND</a:t>
            </a:r>
          </a:p>
          <a:p>
            <a:pPr algn="ctr">
              <a:lnSpc>
                <a:spcPts val="8076"/>
              </a:lnSpc>
            </a:pPr>
            <a:r>
              <a:rPr lang="en-US" sz="9615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RELATIONSHIPS.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11135" y="6771244"/>
            <a:ext cx="8865731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 dirty="0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CSA0504</a:t>
            </a:r>
          </a:p>
          <a:p>
            <a:pPr algn="ctr">
              <a:lnSpc>
                <a:spcPts val="3699"/>
              </a:lnSpc>
            </a:pPr>
            <a:r>
              <a:rPr lang="en-US" sz="3699" dirty="0" err="1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Name:L.Meghana</a:t>
            </a:r>
            <a:endParaRPr lang="en-US" sz="3699" dirty="0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ctr">
              <a:lnSpc>
                <a:spcPts val="3699"/>
              </a:lnSpc>
            </a:pPr>
            <a:r>
              <a:rPr lang="en-US" sz="3699" dirty="0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Reg no:192524107</a:t>
            </a: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5626148" y="6963973"/>
            <a:ext cx="5898624" cy="3855248"/>
            <a:chOff x="0" y="0"/>
            <a:chExt cx="2036073" cy="13307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6803" y="4154542"/>
            <a:ext cx="10615127" cy="281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Online Library System – ER Diagram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Manages books and members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Tracks borrowing and returning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Stores library records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Uses ER model for database design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1963961" y="1366072"/>
            <a:ext cx="21222889" cy="160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2"/>
              </a:lnSpc>
              <a:spcBef>
                <a:spcPct val="0"/>
              </a:spcBef>
            </a:pPr>
            <a:r>
              <a:rPr lang="en-US" sz="4380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1.CREATE AND PRESENT AN ER DIAGRAM FOR AN ONLINE LIBRARY</a:t>
            </a:r>
          </a:p>
          <a:p>
            <a:pPr algn="ctr">
              <a:lnSpc>
                <a:spcPts val="6132"/>
              </a:lnSpc>
              <a:spcBef>
                <a:spcPct val="0"/>
              </a:spcBef>
            </a:pPr>
            <a:r>
              <a:rPr lang="en-US" sz="4380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SYSTEM, EXPLAINING EACH COMPONENT CLEARLY.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9078" y="517021"/>
            <a:ext cx="16367178" cy="113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1"/>
              </a:lnSpc>
            </a:pPr>
            <a:r>
              <a:rPr lang="en-US" sz="8216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ER DIAGRAM COMPONENTS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730879"/>
            <a:ext cx="11737815" cy="841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Entities: Real-world object (Book, Member)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Member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Book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Librarian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Loan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Attributes: Describes an entity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Member ID, Name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Book ID, Title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Loan Date, Return Date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Relationships: Connects entities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Member borrows Book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Librarian manages Loan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Primary Key: Unique identifier (Book ID, Member ID)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5105400" y="647700"/>
            <a:ext cx="9572184" cy="141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65"/>
              </a:lnSpc>
            </a:pPr>
            <a:r>
              <a:rPr lang="en-US" sz="10315" b="1" dirty="0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FFB24B-93AF-F050-5A46-02490892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552700"/>
            <a:ext cx="12299815" cy="60466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996" y="810147"/>
            <a:ext cx="17975863" cy="2268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5515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2.PREPARE A PRESENTATION ON THE EER MODEL, DEMONSTRATING GENERALIZATION AND SPECIALIZATION WITH A UNIVERSITY CASE</a:t>
            </a:r>
          </a:p>
          <a:p>
            <a:pPr algn="l">
              <a:lnSpc>
                <a:spcPts val="3116"/>
              </a:lnSpc>
            </a:pPr>
            <a:endParaRPr lang="en-US" sz="5515" b="1">
              <a:solidFill>
                <a:srgbClr val="303030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8064" y="4499909"/>
            <a:ext cx="11737815" cy="281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Enhanced ER (EER) Model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Extension of ER model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Supports inheritance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Represents complex data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Uses specialization and generalization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03904" y="1152525"/>
            <a:ext cx="12037072" cy="119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2"/>
              </a:lnSpc>
            </a:pPr>
            <a:r>
              <a:rPr lang="en-US" sz="8633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UNIVERSITY CASE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57422"/>
            <a:ext cx="13942477" cy="748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endParaRPr/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Superclass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Person</a:t>
            </a: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Specialized Subclasses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Student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Faculty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Staff</a:t>
            </a: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Each subclass inherits: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Person ID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Name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Address</a:t>
            </a: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Additional attributes: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Student → Semester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Faculty → Department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Staff → Designation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759" y="1394752"/>
            <a:ext cx="18002481" cy="224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3"/>
              </a:lnSpc>
            </a:pPr>
            <a:r>
              <a:rPr lang="en-US" sz="8016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GENERALIZATION AND SPECIALIZATION</a:t>
            </a:r>
          </a:p>
          <a:p>
            <a:pPr algn="l">
              <a:lnSpc>
                <a:spcPts val="8665"/>
              </a:lnSpc>
            </a:pPr>
            <a:endParaRPr lang="en-US" sz="8016" b="1">
              <a:solidFill>
                <a:srgbClr val="303030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83171" y="3718832"/>
            <a:ext cx="11750853" cy="421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SPECIALIZATION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Divides one entity into multiple subgroups.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Example: Person → Student, Faculty, Staff.</a:t>
            </a:r>
          </a:p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GENERALIZATION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Combines similar entities into one superclass.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Reduces duplication of common attributes.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Makes the database easier to maintain.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Improves data organization.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45056" y="589293"/>
            <a:ext cx="9572184" cy="118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7"/>
              </a:lnSpc>
            </a:pPr>
            <a:r>
              <a:rPr lang="en-US" sz="8616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23C00-2780-F5C6-BCE7-104940AE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028" y="2247900"/>
            <a:ext cx="13631944" cy="6671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52359" y="3031734"/>
            <a:ext cx="12048481" cy="468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Introduction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Data independence means modifying one level of the database without affecting another.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It is a key feature of DBMS architecture.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It separates application programs from database changes.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Supports easy database maintenance.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Based on the three-schema architecture.</a:t>
            </a:r>
          </a:p>
          <a:p>
            <a:pPr marL="798828" lvl="1" indent="-399414" algn="l">
              <a:lnSpc>
                <a:spcPts val="3699"/>
              </a:lnSpc>
              <a:buFont typeface="Arial"/>
              <a:buChar char="•"/>
            </a:pPr>
            <a:r>
              <a:rPr lang="en-US" sz="3699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Improves flexibility and scalability.</a:t>
            </a:r>
          </a:p>
          <a:p>
            <a:pPr algn="l">
              <a:lnSpc>
                <a:spcPts val="3699"/>
              </a:lnSpc>
            </a:pPr>
            <a:endParaRPr lang="en-US" sz="3699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404580"/>
            <a:ext cx="17526291" cy="171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3"/>
              </a:lnSpc>
              <a:spcBef>
                <a:spcPct val="0"/>
              </a:spcBef>
            </a:pPr>
            <a:r>
              <a:rPr lang="en-US" sz="4652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3.PRESENT THE CONCEPT OF DATA INDEPENDENCE (LOGICAL AND</a:t>
            </a:r>
          </a:p>
          <a:p>
            <a:pPr algn="ctr">
              <a:lnSpc>
                <a:spcPts val="6513"/>
              </a:lnSpc>
              <a:spcBef>
                <a:spcPct val="0"/>
              </a:spcBef>
            </a:pPr>
            <a:r>
              <a:rPr lang="en-US" sz="4652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PHYSICAL) AND ITS SIGNIFICANCE IN DBMS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3608" y="716979"/>
            <a:ext cx="17827275" cy="118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3"/>
              </a:lnSpc>
            </a:pPr>
            <a:r>
              <a:rPr lang="en-US" sz="8623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TYPES OF DATA INDEPENDENCE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39085"/>
            <a:ext cx="13174039" cy="52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2"/>
              </a:lnSpc>
            </a:pPr>
            <a:endParaRPr/>
          </a:p>
          <a:p>
            <a:pPr algn="l">
              <a:lnSpc>
                <a:spcPts val="4152"/>
              </a:lnSpc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Physical Data Independence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Changes physical storage methods.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Logical schema remains unchanged.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Example: Changing file organization.</a:t>
            </a:r>
          </a:p>
          <a:p>
            <a:pPr algn="l">
              <a:lnSpc>
                <a:spcPts val="4152"/>
              </a:lnSpc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Logical Data Independence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Changes logical database structure.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User applications continue working.</a:t>
            </a:r>
          </a:p>
          <a:p>
            <a:pPr marL="896571" lvl="1" indent="-448286" algn="l">
              <a:lnSpc>
                <a:spcPts val="4152"/>
              </a:lnSpc>
              <a:buFont typeface="Arial"/>
              <a:buChar char="•"/>
            </a:pPr>
            <a:r>
              <a:rPr lang="en-US" sz="4152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Example: Adding a new attribute.</a:t>
            </a:r>
          </a:p>
          <a:p>
            <a:pPr algn="l">
              <a:lnSpc>
                <a:spcPts val="4152"/>
              </a:lnSpc>
            </a:pPr>
            <a:endParaRPr lang="en-US" sz="4152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43350" y="876106"/>
            <a:ext cx="18227763" cy="91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9"/>
              </a:lnSpc>
            </a:pPr>
            <a:r>
              <a:rPr lang="en-US" sz="6725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IMPORTANCE OF DATA INDEPENDENCE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23596"/>
            <a:ext cx="12754035" cy="576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0"/>
              </a:lnSpc>
            </a:pPr>
            <a:endParaRPr/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Simplifies database maintenance.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Reduces application modifications.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Supports future database expansion.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Improves system performance.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Protects user applications from internal changes.</a:t>
            </a:r>
          </a:p>
          <a:p>
            <a:pPr marL="882234" lvl="1" indent="-441117" algn="l">
              <a:lnSpc>
                <a:spcPts val="5720"/>
              </a:lnSpc>
              <a:buFont typeface="Arial"/>
              <a:buChar char="•"/>
            </a:pPr>
            <a:r>
              <a:rPr lang="en-US" sz="4086">
                <a:solidFill>
                  <a:srgbClr val="303030"/>
                </a:solidFill>
                <a:latin typeface="Clear Sans"/>
                <a:ea typeface="Clear Sans"/>
                <a:cs typeface="Clear Sans"/>
                <a:sym typeface="Clear Sans"/>
              </a:rPr>
              <a:t>Makes database management more efficient.</a:t>
            </a:r>
          </a:p>
          <a:p>
            <a:pPr algn="ctr">
              <a:lnSpc>
                <a:spcPts val="5720"/>
              </a:lnSpc>
              <a:spcBef>
                <a:spcPct val="0"/>
              </a:spcBef>
            </a:pPr>
            <a:endParaRPr lang="en-US" sz="4086">
              <a:solidFill>
                <a:srgbClr val="30303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D88144-7354-54C5-D923-68B4AAA0F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67" y="767559"/>
            <a:ext cx="17614666" cy="875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6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76300"/>
            <a:ext cx="16385459" cy="2056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4.DELIVER A TECHNICAL PRESENTATION ON THE SOFTWARE COMPONENTS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OF A DBMS, EXPLAINING QUERY PROCESSOR, STORAGE MANAGER,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AND TRANSACTION MANAGER.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8203" y="3698875"/>
            <a:ext cx="11378565" cy="555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DBMS consists of different software modules.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These modules process, store, and manage data.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three major components are: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Query Processor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Storage Manager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Transaction Manager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Each component performs a specific function.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Together they ensure efficient database operations.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0233" y="1706563"/>
            <a:ext cx="11730214" cy="679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Query Processor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Accepts SQL queries.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Checks syntax and validity.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Optimizes query execution.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Retrieves requested data efficiently.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Storage Manager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Manages files and indexes.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Controls data storage on disks.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Allocates memory space.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Retrieves stored data quickly.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0282" y="2433621"/>
            <a:ext cx="9086493" cy="494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Transaction Manager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Manages multiple database transactions.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Ensures ACID properties.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Maintains data consistency.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Supports concurrent user access.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Handles Commit and Rollback operations.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Prevents data loss during failures.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8BECD-18EE-BA33-BCE4-7397B78BF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700"/>
            <a:ext cx="17101503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57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632" y="64396"/>
            <a:ext cx="18116368" cy="1747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3"/>
              </a:lnSpc>
              <a:spcBef>
                <a:spcPct val="0"/>
              </a:spcBef>
            </a:pPr>
            <a:r>
              <a:rPr lang="en-US" sz="4766" b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5.PREPARE A PRESENTATION COMPARING STRONG AND WEAK ENTITIES IN ER MODELING WITH REAL-WORLD EXAMPLES.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00233" y="3230038"/>
            <a:ext cx="10933629" cy="494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Introduction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Entities represent real-world objects in a database.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They are classified as Strong or Weak entities.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Strong entities exist independently.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Weak entities depend on another entity.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Both are represented differently in ER diagrams.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They help define database relationships.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8590" y="1519555"/>
            <a:ext cx="8120420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 Entity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Characteristics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Has its own primary key.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Exists independently.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Represented by a single rectangle.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Does not depend on another entity.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Employee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Book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6295" y="1519555"/>
            <a:ext cx="9887188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Weak Entity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Characteristics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Has no complete primary key.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Depends on a strong entity.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 partial key.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Represented by a double rectangle.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Connected using an identifying relationship.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Employee → Dependent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→ Order Item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Library Member → Loan Record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E55C20-56F3-D257-071C-DF1E63EAF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1500"/>
            <a:ext cx="16459199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29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655</Words>
  <Application>Microsoft Office PowerPoint</Application>
  <PresentationFormat>Custom</PresentationFormat>
  <Paragraphs>147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</vt:lpstr>
      <vt:lpstr>Clear Sans</vt:lpstr>
      <vt:lpstr>Clear Sans Bold</vt:lpstr>
      <vt:lpstr>Canva Sans</vt:lpstr>
      <vt:lpstr>Arial</vt:lpstr>
      <vt:lpstr>Canva Sans Bold</vt:lpstr>
      <vt:lpstr>Times New Roman MT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technical presentation</dc:title>
  <cp:lastModifiedBy>L Meghana</cp:lastModifiedBy>
  <cp:revision>4</cp:revision>
  <dcterms:created xsi:type="dcterms:W3CDTF">2006-08-16T00:00:00Z</dcterms:created>
  <dcterms:modified xsi:type="dcterms:W3CDTF">2026-07-23T03:08:39Z</dcterms:modified>
  <dc:identifier>DAHQCtKT__g</dc:identifier>
</cp:coreProperties>
</file>